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69" r:id="rId5"/>
    <p:sldId id="257" r:id="rId6"/>
    <p:sldId id="275" r:id="rId7"/>
    <p:sldId id="276" r:id="rId8"/>
    <p:sldId id="273" r:id="rId9"/>
    <p:sldId id="268" r:id="rId10"/>
    <p:sldId id="277" r:id="rId11"/>
    <p:sldId id="270" r:id="rId12"/>
    <p:sldId id="265" r:id="rId13"/>
    <p:sldId id="278"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US" altLang="en-GB" sz="2400" dirty="0">
                <a:solidFill>
                  <a:schemeClr val="tx1"/>
                </a:solidFill>
                <a:latin typeface="Cambria" panose="02040503050406030204" pitchFamily="18" charset="0"/>
                <a:ea typeface="Cambria" panose="02040503050406030204" pitchFamily="18" charset="0"/>
              </a:rPr>
              <a:t>Automated Attendance System forRural Schools</a:t>
            </a:r>
            <a:endParaRPr lang="en-US" altLang="en-GB"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r>
              <a:rPr lang="en-GB" sz="1800" dirty="0" smtClean="0">
                <a:latin typeface="Cambria" panose="02040503050406030204" pitchFamily="18" charset="0"/>
                <a:ea typeface="Cambria" panose="02040503050406030204" pitchFamily="18" charset="0"/>
              </a:rPr>
              <a:t>:</a:t>
            </a:r>
            <a:r>
              <a:rPr lang="en-IN" altLang="en-GB" sz="1800" dirty="0" smtClean="0">
                <a:latin typeface="Cambria" panose="02040503050406030204" pitchFamily="18" charset="0"/>
                <a:ea typeface="Cambria" panose="02040503050406030204" pitchFamily="18" charset="0"/>
              </a:rPr>
              <a:t> C</a:t>
            </a:r>
            <a:r>
              <a:rPr lang="en-US" altLang="en-IN" sz="1800" dirty="0" smtClean="0">
                <a:latin typeface="Cambria" panose="02040503050406030204" pitchFamily="18" charset="0"/>
                <a:ea typeface="Cambria" panose="02040503050406030204" pitchFamily="18" charset="0"/>
              </a:rPr>
              <a:t>DV_01</a:t>
            </a:r>
            <a:endParaRPr lang="en-US" altLang="en-IN" sz="1800" dirty="0" smtClean="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IN"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alt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t>
            </a:r>
            <a:r>
              <a:rPr lang="en-IN" alt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S</a:t>
            </a:r>
            <a:r>
              <a:rPr lang="en-US" altLang="en-IN"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aurabh Sarkar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and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gridCol w="3333675"/>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Font typeface="+mj-lt"/>
                        <a:buNone/>
                      </a:pPr>
                      <a:r>
                        <a:rPr lang="en-IN" sz="1800" u="none" strike="noStrike" cap="none" dirty="0">
                          <a:latin typeface="Cambria" panose="02040503050406030204" pitchFamily="18" charset="0"/>
                          <a:cs typeface="Cambria" panose="02040503050406030204" pitchFamily="18" charset="0"/>
                        </a:rPr>
                        <a:t>20221C</a:t>
                      </a:r>
                      <a:r>
                        <a:rPr lang="en-US" altLang="en-IN" sz="1800" u="none" strike="noStrike" cap="none" dirty="0">
                          <a:latin typeface="Cambria" panose="02040503050406030204" pitchFamily="18" charset="0"/>
                          <a:cs typeface="Cambria" panose="02040503050406030204" pitchFamily="18" charset="0"/>
                        </a:rPr>
                        <a:t>DV0012</a:t>
                      </a:r>
                      <a:endParaRPr lang="en-US" altLang="en-IN"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en-IN" sz="1800" u="none" strike="noStrike" cap="none" dirty="0">
                          <a:latin typeface="Cambria" panose="02040503050406030204" pitchFamily="18" charset="0"/>
                          <a:cs typeface="Cambria" panose="02040503050406030204" pitchFamily="18" charset="0"/>
                        </a:rPr>
                        <a:t>RAMYA V</a:t>
                      </a:r>
                      <a:endParaRPr lang="en-US" altLang="en-IN"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r>
                        <a:rPr lang="en-IN" sz="1800" u="none" strike="noStrike" cap="none" dirty="0">
                          <a:latin typeface="Cambria" panose="02040503050406030204" pitchFamily="18" charset="0"/>
                          <a:cs typeface="Cambria" panose="02040503050406030204" pitchFamily="18" charset="0"/>
                        </a:rPr>
                        <a:t>20221C</a:t>
                      </a:r>
                      <a:r>
                        <a:rPr lang="en-US" altLang="en-IN" sz="1800" u="none" strike="noStrike" cap="none" dirty="0">
                          <a:latin typeface="Cambria" panose="02040503050406030204" pitchFamily="18" charset="0"/>
                          <a:cs typeface="Cambria" panose="02040503050406030204" pitchFamily="18" charset="0"/>
                        </a:rPr>
                        <a:t>DV0019</a:t>
                      </a:r>
                      <a:endParaRPr lang="en-US" altLang="en-IN"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en-IN" sz="1800" u="none" strike="noStrike" cap="none" dirty="0">
                          <a:latin typeface="Cambria" panose="02040503050406030204" pitchFamily="18" charset="0"/>
                          <a:cs typeface="Cambria" panose="02040503050406030204" pitchFamily="18" charset="0"/>
                        </a:rPr>
                        <a:t>P ARCHITA </a:t>
                      </a:r>
                      <a:endParaRPr lang="en-US" altLang="en-IN"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r>
                        <a:rPr lang="en-IN" sz="1800" u="none" strike="noStrike" cap="none" dirty="0">
                          <a:latin typeface="Cambria" panose="02040503050406030204" pitchFamily="18" charset="0"/>
                          <a:cs typeface="Cambria" panose="02040503050406030204" pitchFamily="18" charset="0"/>
                        </a:rPr>
                        <a:t>20221C</a:t>
                      </a:r>
                      <a:r>
                        <a:rPr lang="en-US" altLang="en-IN" sz="1800" u="none" strike="noStrike" cap="none" dirty="0">
                          <a:latin typeface="Cambria" panose="02040503050406030204" pitchFamily="18" charset="0"/>
                          <a:cs typeface="Cambria" panose="02040503050406030204" pitchFamily="18" charset="0"/>
                        </a:rPr>
                        <a:t>DV0054</a:t>
                      </a:r>
                      <a:endParaRPr lang="en-US" altLang="en-IN"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altLang="en-IN" sz="1800" u="none" strike="noStrike" cap="none" dirty="0">
                          <a:latin typeface="Cambria" panose="02040503050406030204" pitchFamily="18" charset="0"/>
                          <a:cs typeface="Cambria" panose="02040503050406030204" pitchFamily="18" charset="0"/>
                        </a:rPr>
                        <a:t>SAI VRITHIKA  JP</a:t>
                      </a:r>
                      <a:endParaRPr lang="en-US" altLang="en-IN" sz="1800" u="none" strike="noStrike" cap="none" dirty="0">
                        <a:latin typeface="Cambria" panose="02040503050406030204" pitchFamily="18" charset="0"/>
                        <a:cs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IN" alt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CSE7302-University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smtClean="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1800" b="1" dirty="0">
                <a:solidFill>
                  <a:schemeClr val="tx1">
                    <a:lumMod val="95000"/>
                    <a:lumOff val="5000"/>
                  </a:schemeClr>
                </a:solidFill>
                <a:latin typeface="Cambria" panose="02040503050406030204"/>
                <a:ea typeface="Cambria" panose="02040503050406030204"/>
                <a:cs typeface="Verdana" panose="020B0604030504040204"/>
                <a:sym typeface="Verdana" panose="020B0604030504040204"/>
              </a:rPr>
              <a:t>Computer Science and Engineering(DevOps)</a:t>
            </a:r>
            <a:endPar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a:solidFill>
                  <a:schemeClr val="tx1">
                    <a:lumMod val="95000"/>
                    <a:lumOff val="5000"/>
                  </a:schemeClr>
                </a:solidFill>
                <a:latin typeface="Cambria" panose="02040503050406030204"/>
                <a:ea typeface="Cambria" panose="02040503050406030204"/>
                <a:sym typeface="Verdana" panose="020B0604030504040204"/>
              </a:rPr>
              <a:t>Dr. Pravinth raja S</a:t>
            </a:r>
            <a:endParaRPr lang="en-US" sz="1800" b="1" dirty="0" smtClean="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1800" b="1" dirty="0">
                <a:gradFill>
                  <a:gsLst>
                    <a:gs pos="50000">
                      <a:schemeClr val="tx1"/>
                    </a:gs>
                    <a:gs pos="0">
                      <a:schemeClr val="tx1">
                        <a:lumMod val="25000"/>
                        <a:lumOff val="75000"/>
                      </a:schemeClr>
                    </a:gs>
                    <a:gs pos="100000">
                      <a:schemeClr val="tx1">
                        <a:lumMod val="85000"/>
                      </a:schemeClr>
                    </a:gs>
                  </a:gsLst>
                  <a:lin ang="5400000" scaled="1"/>
                </a:gradFill>
                <a:latin typeface="Cambria" panose="02040503050406030204" pitchFamily="18" charset="0"/>
                <a:ea typeface="Cambria" panose="02040503050406030204" pitchFamily="18" charset="0"/>
                <a:cs typeface="Verdana" panose="020B0604030504040204"/>
                <a:sym typeface="Verdana" panose="020B0604030504040204"/>
              </a:rPr>
              <a:t>Dr. H M Manjula</a:t>
            </a:r>
            <a:br>
              <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rPr>
            </a:br>
            <a:r>
              <a:rPr lang="en-US" sz="1800" b="1" dirty="0" smtClean="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smtClean="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Problem Statement Number:</a:t>
            </a:r>
            <a:r>
              <a:rPr lang="en-US" altLang="en-GB" dirty="0" smtClean="0">
                <a:latin typeface="Cambria" panose="02040503050406030204" pitchFamily="18" charset="0"/>
                <a:ea typeface="Cambria" panose="02040503050406030204" pitchFamily="18" charset="0"/>
              </a:rPr>
              <a:t>25012</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286385" y="1143000"/>
            <a:ext cx="11636375" cy="4953000"/>
          </a:xfrm>
          <a:prstGeom prst="rect">
            <a:avLst/>
          </a:prstGeom>
          <a:noFill/>
          <a:ln>
            <a:noFill/>
          </a:ln>
        </p:spPr>
        <p:txBody>
          <a:bodyPr spcFirstLastPara="1" wrap="square" lIns="91425" tIns="45700" rIns="91425" bIns="45700" anchor="t" anchorCtr="0">
            <a:normAutofit fontScale="40000"/>
          </a:bodyPr>
          <a:lstStyle/>
          <a:p>
            <a:pPr marL="342900" lvl="0" indent="-190500" algn="just">
              <a:spcBef>
                <a:spcPts val="0"/>
              </a:spcBef>
              <a:buNone/>
            </a:pPr>
            <a:r>
              <a:rPr lang="en-US" sz="6000" b="1" dirty="0" smtClean="0">
                <a:latin typeface="Times New Roman" panose="02020603050405020304" charset="0"/>
                <a:ea typeface="Cambria" panose="02040503050406030204" pitchFamily="18" charset="0"/>
                <a:cs typeface="Times New Roman" panose="02020603050405020304" charset="0"/>
              </a:rPr>
              <a:t>Organization:</a:t>
            </a:r>
            <a:r>
              <a:rPr lang="en-US" altLang="en-US" sz="6000" dirty="0" smtClean="0">
                <a:latin typeface="Times New Roman" panose="02020603050405020304" charset="0"/>
                <a:ea typeface="Cambria" panose="02040503050406030204" pitchFamily="18" charset="0"/>
                <a:cs typeface="Times New Roman" panose="02020603050405020304" charset="0"/>
              </a:rPr>
              <a:t>Government of Punjab</a:t>
            </a:r>
            <a:r>
              <a:rPr lang="en-IN" altLang="en-US" sz="6000" dirty="0" smtClean="0">
                <a:latin typeface="Times New Roman" panose="02020603050405020304" charset="0"/>
                <a:ea typeface="Cambria" panose="02040503050406030204" pitchFamily="18" charset="0"/>
                <a:cs typeface="Times New Roman" panose="02020603050405020304" charset="0"/>
              </a:rPr>
              <a:t>           </a:t>
            </a:r>
            <a:endParaRPr lang="en-IN" altLang="en-US" sz="6000" dirty="0" smtClean="0">
              <a:latin typeface="Times New Roman" panose="02020603050405020304" charset="0"/>
              <a:ea typeface="Cambria" panose="02040503050406030204" pitchFamily="18" charset="0"/>
              <a:cs typeface="Times New Roman" panose="02020603050405020304" charset="0"/>
            </a:endParaRPr>
          </a:p>
          <a:p>
            <a:pPr marL="342900" lvl="0" indent="-190500" algn="just">
              <a:spcBef>
                <a:spcPts val="0"/>
              </a:spcBef>
              <a:buNone/>
            </a:pPr>
            <a:r>
              <a:rPr lang="en-US" sz="6000" b="1" dirty="0">
                <a:latin typeface="Times New Roman" panose="02020603050405020304" charset="0"/>
                <a:ea typeface="Cambria" panose="02040503050406030204" pitchFamily="18" charset="0"/>
                <a:cs typeface="Times New Roman" panose="02020603050405020304" charset="0"/>
              </a:rPr>
              <a:t>Category</a:t>
            </a:r>
            <a:r>
              <a:rPr lang="en-US" sz="6000" b="1" dirty="0" smtClean="0">
                <a:latin typeface="Times New Roman" panose="02020603050405020304" charset="0"/>
                <a:ea typeface="Cambria" panose="02040503050406030204" pitchFamily="18" charset="0"/>
                <a:cs typeface="Times New Roman" panose="02020603050405020304" charset="0"/>
              </a:rPr>
              <a:t>:</a:t>
            </a:r>
            <a:r>
              <a:rPr lang="en-IN" altLang="en-US" sz="6000" dirty="0" smtClean="0">
                <a:latin typeface="Times New Roman" panose="02020603050405020304" charset="0"/>
                <a:ea typeface="Cambria" panose="02040503050406030204" pitchFamily="18" charset="0"/>
                <a:cs typeface="Times New Roman" panose="02020603050405020304" charset="0"/>
              </a:rPr>
              <a:t>Software</a:t>
            </a:r>
            <a:endParaRPr lang="en-US" sz="6000" dirty="0" smtClean="0">
              <a:latin typeface="Times New Roman" panose="02020603050405020304" charset="0"/>
              <a:ea typeface="Cambria" panose="02040503050406030204" pitchFamily="18" charset="0"/>
              <a:cs typeface="Times New Roman" panose="02020603050405020304" charset="0"/>
            </a:endParaRPr>
          </a:p>
          <a:p>
            <a:pPr marL="342900" lvl="0" indent="-190500" algn="l">
              <a:lnSpc>
                <a:spcPct val="170000"/>
              </a:lnSpc>
              <a:spcBef>
                <a:spcPts val="0"/>
              </a:spcBef>
              <a:buNone/>
            </a:pPr>
            <a:r>
              <a:rPr lang="en-US" sz="5000" b="1" dirty="0">
                <a:latin typeface="Times New Roman" panose="02020603050405020304" charset="0"/>
                <a:ea typeface="Cambria" panose="02040503050406030204" pitchFamily="18" charset="0"/>
                <a:cs typeface="Times New Roman" panose="02020603050405020304" charset="0"/>
              </a:rPr>
              <a:t>Problem </a:t>
            </a:r>
            <a:r>
              <a:rPr lang="en-US" sz="5000" b="1" dirty="0" smtClean="0">
                <a:latin typeface="Times New Roman" panose="02020603050405020304" charset="0"/>
                <a:ea typeface="Cambria" panose="02040503050406030204" pitchFamily="18" charset="0"/>
                <a:cs typeface="Times New Roman" panose="02020603050405020304" charset="0"/>
              </a:rPr>
              <a:t>Description</a:t>
            </a:r>
            <a:r>
              <a:rPr lang="en-US" sz="3000" b="1" dirty="0" smtClean="0">
                <a:latin typeface="Times New Roman" panose="02020603050405020304" charset="0"/>
                <a:ea typeface="Cambria" panose="02040503050406030204" pitchFamily="18" charset="0"/>
                <a:cs typeface="Times New Roman" panose="02020603050405020304" charset="0"/>
              </a:rPr>
              <a:t>:</a:t>
            </a:r>
            <a:r>
              <a:rPr lang="en-US" altLang="en-US" sz="4000" dirty="0" smtClean="0">
                <a:latin typeface="Cambria" panose="02040503050406030204" pitchFamily="18" charset="0"/>
                <a:ea typeface="Cambria" panose="02040503050406030204" pitchFamily="18" charset="0"/>
                <a:cs typeface="Cambria" panose="02040503050406030204" pitchFamily="18" charset="0"/>
              </a:rPr>
              <a:t>In many rural schools, student attendance is still recorded manually using paper registers, which consumes valuable classroom time and increases the workload of teachers. This traditional system is prone to errors such as incorrect entries, proxy attendance, and loss of records. Due to limited staff and digital infrastructure, maintaining accurate attendance data over long periods becomes difficult. Manual attendance methods also delay the generation of reports required for academic evaluation and government schemes. Parents and school authorities are unable to monitor student attendance in real time, leading to reduced accountability and delayed corrective actions. With the increasing availability of affordable smartphones and basic computing facilities, there is a growing need for a low-cost, reliable, and automated attendance system suitable for rural school environments. Such a system can improve accuracy, save time, reduce manipulation, and help schools maintain secure and efficient digital attendance records.</a:t>
            </a:r>
            <a:endParaRPr lang="en-US" altLang="en-US" sz="3000" dirty="0" smtClean="0">
              <a:latin typeface="Times New Roman" panose="02020603050405020304" charset="0"/>
              <a:ea typeface="Cambria" panose="02040503050406030204" pitchFamily="18" charset="0"/>
              <a:cs typeface="Times New Roman" panose="02020603050405020304" charset="0"/>
            </a:endParaRPr>
          </a:p>
          <a:p>
            <a:pPr marL="342900" lvl="0" indent="-190500" algn="just">
              <a:lnSpc>
                <a:spcPct val="200000"/>
              </a:lnSpc>
              <a:spcBef>
                <a:spcPts val="0"/>
              </a:spcBef>
              <a:buNone/>
            </a:pPr>
            <a:endParaRPr lang="en-US" altLang="en-GB" sz="3000" dirty="0" smtClean="0">
              <a:latin typeface="Times New Roman" panose="02020603050405020304" charset="0"/>
              <a:ea typeface="Cambria" panose="02040503050406030204" pitchFamily="18"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smtClean="0">
                <a:latin typeface="Cambria" panose="02040503050406030204" pitchFamily="18" charset="0"/>
                <a:ea typeface="Cambria" panose="02040503050406030204" pitchFamily="18" charset="0"/>
              </a:rPr>
              <a:t>Problem </a:t>
            </a:r>
            <a:r>
              <a:rPr lang="en-US" dirty="0" smtClean="0">
                <a:latin typeface="Cambria" panose="02040503050406030204" pitchFamily="18" charset="0"/>
                <a:ea typeface="Cambria" panose="02040503050406030204" pitchFamily="18" charset="0"/>
              </a:rPr>
              <a:t>Statement</a:t>
            </a:r>
            <a:endParaRPr 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smtClean="0">
                <a:latin typeface="Cambria" panose="02040503050406030204" pitchFamily="18" charset="0"/>
                <a:ea typeface="Cambria" panose="02040503050406030204" pitchFamily="18" charset="0"/>
              </a:rPr>
              <a:t>Objectives</a:t>
            </a:r>
            <a:endParaRPr lang="en-US" dirty="0" smtClean="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smtClean="0">
                <a:latin typeface="Cambria" panose="02040503050406030204" pitchFamily="18" charset="0"/>
                <a:ea typeface="Cambria" panose="02040503050406030204" pitchFamily="18" charset="0"/>
              </a:rPr>
              <a:t>Background and Related work for title Selection</a:t>
            </a:r>
            <a:endParaRPr lang="en-US" dirty="0" smtClean="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a:t>
            </a:r>
            <a:r>
              <a:rPr lang="en-US" dirty="0" smtClean="0">
                <a:latin typeface="Cambria" panose="02040503050406030204" pitchFamily="18" charset="0"/>
                <a:ea typeface="Cambria" panose="02040503050406030204" pitchFamily="18" charset="0"/>
              </a:rPr>
              <a:t>Statement</a:t>
            </a:r>
            <a:endParaRPr lang="en-US" dirty="0" smtClean="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Arial" panose="020B0604020202020204" pitchFamily="34" charset="0"/>
              <a:buChar char="•"/>
            </a:pPr>
            <a:r>
              <a:rPr lang="en-US" dirty="0" smtClean="0">
                <a:latin typeface="Cambria" panose="02040503050406030204" pitchFamily="18" charset="0"/>
                <a:ea typeface="Cambria" panose="02040503050406030204" pitchFamily="18" charset="0"/>
              </a:rPr>
              <a:t>Innovation </a:t>
            </a:r>
            <a:r>
              <a:rPr lang="en-US" dirty="0">
                <a:latin typeface="Cambria" panose="02040503050406030204" pitchFamily="18" charset="0"/>
                <a:ea typeface="Cambria" panose="02040503050406030204" pitchFamily="18" charset="0"/>
              </a:rPr>
              <a:t>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smtClean="0">
                <a:latin typeface="Cambria" panose="02040503050406030204" pitchFamily="18" charset="0"/>
                <a:ea typeface="Cambria" panose="02040503050406030204" pitchFamily="18" charset="0"/>
              </a:rPr>
              <a:t>Git</a:t>
            </a:r>
            <a:r>
              <a:rPr lang="en-US" dirty="0" smtClean="0">
                <a:latin typeface="Cambria" panose="02040503050406030204" pitchFamily="18" charset="0"/>
                <a:ea typeface="Cambria" panose="02040503050406030204" pitchFamily="18" charset="0"/>
              </a:rPr>
              <a:t>-hub </a:t>
            </a:r>
            <a:r>
              <a:rPr lang="en-US" dirty="0" smtClean="0">
                <a:latin typeface="Cambria" panose="02040503050406030204" pitchFamily="18" charset="0"/>
                <a:ea typeface="Cambria" panose="02040503050406030204" pitchFamily="18" charset="0"/>
              </a:rPr>
              <a:t>Link</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smtClean="0">
                <a:latin typeface="Cambria" panose="02040503050406030204" pitchFamily="18" charset="0"/>
                <a:ea typeface="Cambria" panose="02040503050406030204" pitchFamily="18" charset="0"/>
              </a:rPr>
              <a:t>Timeline </a:t>
            </a:r>
            <a:r>
              <a:rPr lang="en-US" dirty="0" smtClean="0">
                <a:latin typeface="Cambria" panose="02040503050406030204" pitchFamily="18" charset="0"/>
                <a:ea typeface="Cambria" panose="02040503050406030204" pitchFamily="18" charset="0"/>
              </a:rPr>
              <a:t>of the Project</a:t>
            </a:r>
            <a:endParaRPr lang="en-US" dirty="0" smtClean="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smtClean="0">
                <a:latin typeface="Cambria" panose="02040503050406030204" pitchFamily="18" charset="0"/>
                <a:ea typeface="Cambria" panose="02040503050406030204" pitchFamily="18" charset="0"/>
              </a:rPr>
              <a:t>References</a:t>
            </a:r>
            <a:endParaRPr lang="en-US" dirty="0" smtClean="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smtClean="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smtClean="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smtClean="0">
                <a:latin typeface="Cambria" panose="02040503050406030204" pitchFamily="18" charset="0"/>
                <a:ea typeface="Cambria" panose="02040503050406030204" pitchFamily="18" charset="0"/>
                <a:sym typeface="+mn-ea"/>
              </a:rPr>
              <a:t>Objectives</a:t>
            </a:r>
            <a:endParaRPr lang="en-GB" altLang="en-US"/>
          </a:p>
        </p:txBody>
      </p:sp>
      <p:sp>
        <p:nvSpPr>
          <p:cNvPr id="3" name="Text Placeholder 2"/>
          <p:cNvSpPr>
            <a:spLocks noGrp="1"/>
          </p:cNvSpPr>
          <p:nvPr>
            <p:ph type="body" idx="1"/>
          </p:nvPr>
        </p:nvSpPr>
        <p:spPr>
          <a:xfrm>
            <a:off x="812800" y="1143001"/>
            <a:ext cx="10668000" cy="4953000"/>
          </a:xfrm>
        </p:spPr>
        <p:txBody>
          <a:bodyPr>
            <a:noAutofit/>
          </a:bodyPr>
          <a:p>
            <a:pPr marL="76200" indent="0">
              <a:lnSpc>
                <a:spcPct val="90000"/>
              </a:lnSpc>
              <a:buNone/>
            </a:pPr>
            <a:r>
              <a:rPr lang="en-US" altLang="en-GB" sz="1800" b="1">
                <a:latin typeface="Times New Roman" panose="02020603050405020304" charset="0"/>
                <a:cs typeface="Times New Roman" panose="02020603050405020304" charset="0"/>
              </a:rPr>
              <a:t>Primary Objective</a:t>
            </a:r>
            <a:endParaRPr lang="en-US" altLang="en-GB" sz="1800" b="1">
              <a:latin typeface="Times New Roman" panose="02020603050405020304" charset="0"/>
              <a:cs typeface="Times New Roman" panose="02020603050405020304" charset="0"/>
            </a:endParaRPr>
          </a:p>
          <a:p>
            <a:pPr>
              <a:lnSpc>
                <a:spcPct val="90000"/>
              </a:lnSpc>
            </a:pPr>
            <a:endParaRPr lang="en-US" altLang="en-GB" sz="1800">
              <a:latin typeface="Times New Roman" panose="02020603050405020304" charset="0"/>
              <a:cs typeface="Times New Roman" panose="02020603050405020304" charset="0"/>
            </a:endParaRPr>
          </a:p>
          <a:p>
            <a:pPr marL="76200" indent="0">
              <a:lnSpc>
                <a:spcPct val="90000"/>
              </a:lnSpc>
              <a:buNone/>
            </a:pPr>
            <a:r>
              <a:rPr lang="en-US" altLang="en-US" sz="2000">
                <a:latin typeface="Times New Roman" panose="02020603050405020304" charset="0"/>
                <a:cs typeface="Times New Roman" panose="02020603050405020304" charset="0"/>
              </a:rPr>
              <a:t>      To develop a low-cost automatic attendance marking system that improves accuracy and efficiency in rural schools while reducing manual effort.</a:t>
            </a:r>
            <a:endParaRPr lang="en-US" altLang="en-US" sz="2000">
              <a:latin typeface="Times New Roman" panose="02020603050405020304" charset="0"/>
              <a:cs typeface="Times New Roman" panose="02020603050405020304" charset="0"/>
            </a:endParaRPr>
          </a:p>
          <a:p>
            <a:pPr marL="76200" indent="0">
              <a:lnSpc>
                <a:spcPct val="90000"/>
              </a:lnSpc>
              <a:buNone/>
            </a:pPr>
            <a:endParaRPr lang="en-US" altLang="en-US" sz="2000">
              <a:latin typeface="Times New Roman" panose="02020603050405020304" charset="0"/>
              <a:cs typeface="Times New Roman" panose="02020603050405020304" charset="0"/>
            </a:endParaRPr>
          </a:p>
          <a:p>
            <a:pPr marL="76200" indent="0">
              <a:lnSpc>
                <a:spcPct val="90000"/>
              </a:lnSpc>
              <a:buNone/>
            </a:pPr>
            <a:r>
              <a:rPr lang="en-US" altLang="en-GB" sz="1800" b="1">
                <a:latin typeface="Times New Roman" panose="02020603050405020304" charset="0"/>
                <a:cs typeface="Times New Roman" panose="02020603050405020304" charset="0"/>
              </a:rPr>
              <a:t>Secondary Objectives</a:t>
            </a:r>
            <a:endParaRPr lang="en-US" altLang="en-GB" sz="1800" b="1">
              <a:latin typeface="Times New Roman" panose="02020603050405020304" charset="0"/>
              <a:cs typeface="Times New Roman" panose="02020603050405020304" charset="0"/>
            </a:endParaRPr>
          </a:p>
          <a:p>
            <a:pPr>
              <a:lnSpc>
                <a:spcPct val="90000"/>
              </a:lnSpc>
            </a:pPr>
            <a:r>
              <a:rPr lang="en-US" altLang="en-US" sz="2000">
                <a:latin typeface="Times New Roman" panose="02020603050405020304" charset="0"/>
                <a:cs typeface="Times New Roman" panose="02020603050405020304" charset="0"/>
              </a:rPr>
              <a:t>To eliminate manual attendance registers and reduce paperwork</a:t>
            </a:r>
            <a:endParaRPr lang="en-US" altLang="en-US" sz="2000">
              <a:latin typeface="Times New Roman" panose="02020603050405020304" charset="0"/>
              <a:cs typeface="Times New Roman" panose="02020603050405020304" charset="0"/>
            </a:endParaRPr>
          </a:p>
          <a:p>
            <a:pPr>
              <a:lnSpc>
                <a:spcPct val="90000"/>
              </a:lnSpc>
            </a:pPr>
            <a:r>
              <a:rPr lang="en-US" altLang="en-US" sz="2000">
                <a:latin typeface="Times New Roman" panose="02020603050405020304" charset="0"/>
                <a:cs typeface="Times New Roman" panose="02020603050405020304" charset="0"/>
              </a:rPr>
              <a:t>To automate student attendance using digital identification methods</a:t>
            </a:r>
            <a:endParaRPr lang="en-US" altLang="en-US" sz="2000">
              <a:latin typeface="Times New Roman" panose="02020603050405020304" charset="0"/>
              <a:cs typeface="Times New Roman" panose="02020603050405020304" charset="0"/>
            </a:endParaRPr>
          </a:p>
          <a:p>
            <a:pPr>
              <a:lnSpc>
                <a:spcPct val="90000"/>
              </a:lnSpc>
            </a:pPr>
            <a:r>
              <a:rPr lang="en-US" altLang="en-US" sz="2000">
                <a:latin typeface="Times New Roman" panose="02020603050405020304" charset="0"/>
                <a:cs typeface="Times New Roman" panose="02020603050405020304" charset="0"/>
              </a:rPr>
              <a:t>To prevent proxy attendance and data manipulation</a:t>
            </a:r>
            <a:endParaRPr lang="en-US" altLang="en-US" sz="2000">
              <a:latin typeface="Times New Roman" panose="02020603050405020304" charset="0"/>
              <a:cs typeface="Times New Roman" panose="02020603050405020304" charset="0"/>
            </a:endParaRPr>
          </a:p>
          <a:p>
            <a:pPr>
              <a:lnSpc>
                <a:spcPct val="90000"/>
              </a:lnSpc>
            </a:pPr>
            <a:r>
              <a:rPr lang="en-US" altLang="en-US" sz="2000">
                <a:latin typeface="Times New Roman" panose="02020603050405020304" charset="0"/>
                <a:cs typeface="Times New Roman" panose="02020603050405020304" charset="0"/>
              </a:rPr>
              <a:t>To store attendance records securely in digital format</a:t>
            </a:r>
            <a:endParaRPr lang="en-US" altLang="en-US" sz="2000">
              <a:latin typeface="Times New Roman" panose="02020603050405020304" charset="0"/>
              <a:cs typeface="Times New Roman" panose="02020603050405020304" charset="0"/>
            </a:endParaRPr>
          </a:p>
          <a:p>
            <a:pPr>
              <a:lnSpc>
                <a:spcPct val="90000"/>
              </a:lnSpc>
            </a:pPr>
            <a:r>
              <a:rPr lang="en-US" altLang="en-US" sz="2000">
                <a:latin typeface="Times New Roman" panose="02020603050405020304" charset="0"/>
                <a:cs typeface="Times New Roman" panose="02020603050405020304" charset="0"/>
              </a:rPr>
              <a:t>To generate daily, monthly, and yearly attendance reports automatically</a:t>
            </a:r>
            <a:endParaRPr lang="en-US" altLang="en-US" sz="2000">
              <a:latin typeface="Times New Roman" panose="02020603050405020304" charset="0"/>
              <a:cs typeface="Times New Roman" panose="02020603050405020304" charset="0"/>
            </a:endParaRPr>
          </a:p>
          <a:p>
            <a:pPr>
              <a:lnSpc>
                <a:spcPct val="90000"/>
              </a:lnSpc>
            </a:pPr>
            <a:r>
              <a:rPr lang="en-US" altLang="en-US" sz="2000">
                <a:latin typeface="Times New Roman" panose="02020603050405020304" charset="0"/>
                <a:cs typeface="Times New Roman" panose="02020603050405020304" charset="0"/>
              </a:rPr>
              <a:t>To provide easy access to attendance data for teachers and school authorities</a:t>
            </a:r>
            <a:endParaRPr lang="en-US" altLang="en-US" sz="2000">
              <a:latin typeface="Times New Roman" panose="02020603050405020304" charset="0"/>
              <a:cs typeface="Times New Roman" panose="02020603050405020304" charset="0"/>
            </a:endParaRPr>
          </a:p>
          <a:p>
            <a:pPr>
              <a:lnSpc>
                <a:spcPct val="90000"/>
              </a:lnSpc>
            </a:pPr>
            <a:r>
              <a:rPr lang="en-US" altLang="en-US" sz="2000">
                <a:latin typeface="Times New Roman" panose="02020603050405020304" charset="0"/>
                <a:cs typeface="Times New Roman" panose="02020603050405020304" charset="0"/>
              </a:rPr>
              <a:t>To design a system that works efficiently in low-resource rural environments</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smtClean="0">
                <a:latin typeface="Cambria" panose="02040503050406030204" pitchFamily="18" charset="0"/>
                <a:ea typeface="Cambria" panose="02040503050406030204" pitchFamily="18" charset="0"/>
                <a:sym typeface="+mn-ea"/>
              </a:rPr>
              <a:t>Background and Related work for title Selection</a:t>
            </a:r>
            <a:endParaRPr lang="en-GB" altLang="en-US"/>
          </a:p>
        </p:txBody>
      </p:sp>
      <p:sp>
        <p:nvSpPr>
          <p:cNvPr id="3" name="Text Placeholder 2"/>
          <p:cNvSpPr>
            <a:spLocks noGrp="1"/>
          </p:cNvSpPr>
          <p:nvPr>
            <p:ph type="body" idx="1"/>
          </p:nvPr>
        </p:nvSpPr>
        <p:spPr/>
        <p:txBody>
          <a:bodyPr>
            <a:noAutofit/>
          </a:bodyPr>
          <a:p>
            <a:pPr>
              <a:lnSpc>
                <a:spcPct val="100000"/>
              </a:lnSpc>
            </a:pPr>
            <a:r>
              <a:rPr lang="en-US" altLang="en-US" sz="2000">
                <a:latin typeface="Times New Roman" panose="02020603050405020304" charset="0"/>
                <a:cs typeface="Times New Roman" panose="02020603050405020304" charset="0"/>
              </a:rPr>
              <a:t>Traditional school attendance systems depend on manual record keeping, which is time-consuming and prone to errors.</a:t>
            </a:r>
            <a:endParaRPr lang="en-US" altLang="en-US" sz="2000">
              <a:latin typeface="Times New Roman" panose="02020603050405020304" charset="0"/>
              <a:cs typeface="Times New Roman" panose="02020603050405020304" charset="0"/>
            </a:endParaRPr>
          </a:p>
          <a:p>
            <a:pPr>
              <a:lnSpc>
                <a:spcPct val="100000"/>
              </a:lnSpc>
            </a:pPr>
            <a:r>
              <a:rPr lang="en-US" altLang="en-US" sz="2000">
                <a:latin typeface="Times New Roman" panose="02020603050405020304" charset="0"/>
                <a:cs typeface="Times New Roman" panose="02020603050405020304" charset="0"/>
              </a:rPr>
              <a:t>Some urban schools use biometric or RFID-based attendance systems to improve accuracy.</a:t>
            </a:r>
            <a:endParaRPr lang="en-US" altLang="en-US" sz="2000">
              <a:latin typeface="Times New Roman" panose="02020603050405020304" charset="0"/>
              <a:cs typeface="Times New Roman" panose="02020603050405020304" charset="0"/>
            </a:endParaRPr>
          </a:p>
          <a:p>
            <a:pPr>
              <a:lnSpc>
                <a:spcPct val="100000"/>
              </a:lnSpc>
            </a:pPr>
            <a:r>
              <a:rPr lang="en-US" altLang="en-US" sz="2000">
                <a:latin typeface="Times New Roman" panose="02020603050405020304" charset="0"/>
                <a:cs typeface="Times New Roman" panose="02020603050405020304" charset="0"/>
              </a:rPr>
              <a:t>These advanced systems are often expensive and require continuous power supply and regular maintenance.</a:t>
            </a:r>
            <a:endParaRPr lang="en-US" altLang="en-US" sz="2000">
              <a:latin typeface="Times New Roman" panose="02020603050405020304" charset="0"/>
              <a:cs typeface="Times New Roman" panose="02020603050405020304" charset="0"/>
            </a:endParaRPr>
          </a:p>
          <a:p>
            <a:pPr>
              <a:lnSpc>
                <a:spcPct val="100000"/>
              </a:lnSpc>
            </a:pPr>
            <a:r>
              <a:rPr lang="en-US" altLang="en-US" sz="2000">
                <a:latin typeface="Times New Roman" panose="02020603050405020304" charset="0"/>
                <a:cs typeface="Times New Roman" panose="02020603050405020304" charset="0"/>
              </a:rPr>
              <a:t>Most existing digital attendance solutions are designed for urban institutions and are not suitable for rural conditions.</a:t>
            </a:r>
            <a:endParaRPr lang="en-US" altLang="en-US" sz="2000">
              <a:latin typeface="Times New Roman" panose="02020603050405020304" charset="0"/>
              <a:cs typeface="Times New Roman" panose="02020603050405020304" charset="0"/>
            </a:endParaRPr>
          </a:p>
          <a:p>
            <a:pPr>
              <a:lnSpc>
                <a:spcPct val="100000"/>
              </a:lnSpc>
            </a:pPr>
            <a:r>
              <a:rPr lang="en-US" altLang="en-US" sz="2000">
                <a:latin typeface="Times New Roman" panose="02020603050405020304" charset="0"/>
                <a:cs typeface="Times New Roman" panose="02020603050405020304" charset="0"/>
              </a:rPr>
              <a:t>Rural schools face challenges such as limited internet connectivity and budget constraints.</a:t>
            </a:r>
            <a:endParaRPr lang="en-US" altLang="en-US" sz="2000">
              <a:latin typeface="Times New Roman" panose="02020603050405020304" charset="0"/>
              <a:cs typeface="Times New Roman" panose="02020603050405020304" charset="0"/>
            </a:endParaRPr>
          </a:p>
          <a:p>
            <a:pPr>
              <a:lnSpc>
                <a:spcPct val="100000"/>
              </a:lnSpc>
            </a:pPr>
            <a:r>
              <a:rPr lang="en-US" altLang="en-US" sz="2000">
                <a:latin typeface="Times New Roman" panose="02020603050405020304" charset="0"/>
                <a:cs typeface="Times New Roman" panose="02020603050405020304" charset="0"/>
              </a:rPr>
              <a:t>Research shows that automated attendance systems improve accuracy and reduce administrative workload, but affordable and scalable solutions for rural schools are still limited.</a:t>
            </a:r>
            <a:endParaRPr lang="en-US" altLang="en-US" sz="20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smtClean="0">
                <a:latin typeface="Cambria" panose="02040503050406030204" pitchFamily="18" charset="0"/>
                <a:ea typeface="Cambria" panose="02040503050406030204" pitchFamily="18" charset="0"/>
              </a:rPr>
              <a:t>Analysis </a:t>
            </a:r>
            <a:r>
              <a:rPr lang="en-US" dirty="0">
                <a:latin typeface="Cambria" panose="02040503050406030204" pitchFamily="18" charset="0"/>
                <a:ea typeface="Cambria" panose="02040503050406030204" pitchFamily="18" charset="0"/>
              </a:rPr>
              <a:t>of Problem Statement</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marL="495300" lvl="0" indent="-342900" algn="l" rtl="0">
              <a:lnSpc>
                <a:spcPct val="80000"/>
              </a:lnSpc>
              <a:spcBef>
                <a:spcPts val="0"/>
              </a:spcBef>
              <a:spcAft>
                <a:spcPts val="0"/>
              </a:spcAft>
              <a:buClr>
                <a:schemeClr val="dk1"/>
              </a:buClr>
              <a:buSzPct val="100000"/>
            </a:pPr>
            <a:r>
              <a:rPr lang="en-US" altLang="en-US" sz="2000" dirty="0">
                <a:latin typeface="Cambria" panose="02040503050406030204" pitchFamily="18" charset="0"/>
                <a:ea typeface="Cambria" panose="02040503050406030204" pitchFamily="18" charset="0"/>
              </a:rPr>
              <a:t>Analysis of Problem Statement</a:t>
            </a: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r>
              <a:rPr lang="en-US" altLang="en-US" sz="2000" dirty="0">
                <a:latin typeface="Cambria" panose="02040503050406030204" pitchFamily="18" charset="0"/>
                <a:ea typeface="Cambria" panose="02040503050406030204" pitchFamily="18" charset="0"/>
              </a:rPr>
              <a:t>Manual attendance marking wastes teaching time</a:t>
            </a: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r>
              <a:rPr lang="en-US" altLang="en-US" sz="2000" dirty="0">
                <a:latin typeface="Cambria" panose="02040503050406030204" pitchFamily="18" charset="0"/>
                <a:ea typeface="Cambria" panose="02040503050406030204" pitchFamily="18" charset="0"/>
              </a:rPr>
              <a:t>High chances of proxy attendance and human errors</a:t>
            </a: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r>
              <a:rPr lang="en-US" altLang="en-US" sz="2000" dirty="0">
                <a:latin typeface="Cambria" panose="02040503050406030204" pitchFamily="18" charset="0"/>
                <a:ea typeface="Cambria" panose="02040503050406030204" pitchFamily="18" charset="0"/>
              </a:rPr>
              <a:t>Difficulty in maintaining long-term attendance records</a:t>
            </a: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r>
              <a:rPr lang="en-US" altLang="en-US" sz="2000" dirty="0">
                <a:latin typeface="Cambria" panose="02040503050406030204" pitchFamily="18" charset="0"/>
                <a:ea typeface="Cambria" panose="02040503050406030204" pitchFamily="18" charset="0"/>
              </a:rPr>
              <a:t>Lack of real-time attendance monitoring</a:t>
            </a: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r>
              <a:rPr lang="en-US" altLang="en-US" sz="2000" dirty="0">
                <a:latin typeface="Cambria" panose="02040503050406030204" pitchFamily="18" charset="0"/>
                <a:ea typeface="Cambria" panose="02040503050406030204" pitchFamily="18" charset="0"/>
              </a:rPr>
              <a:t>Existing automated systems are costly and unsuitable for rural schools</a:t>
            </a: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r>
              <a:rPr lang="en-US" altLang="en-US" sz="2000" dirty="0">
                <a:latin typeface="Cambria" panose="02040503050406030204" pitchFamily="18" charset="0"/>
                <a:ea typeface="Cambria" panose="02040503050406030204" pitchFamily="18" charset="0"/>
              </a:rPr>
              <a:t>Limited technical infrastructure in rural areas</a:t>
            </a: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endParaRPr lang="en-US" altLang="en-US" sz="2000" dirty="0">
              <a:latin typeface="Cambria" panose="02040503050406030204" pitchFamily="18" charset="0"/>
              <a:ea typeface="Cambria" panose="02040503050406030204" pitchFamily="18" charset="0"/>
            </a:endParaRPr>
          </a:p>
          <a:p>
            <a:pPr marL="495300" lvl="0" indent="-342900" algn="l" rtl="0">
              <a:lnSpc>
                <a:spcPct val="80000"/>
              </a:lnSpc>
              <a:spcBef>
                <a:spcPts val="0"/>
              </a:spcBef>
              <a:spcAft>
                <a:spcPts val="0"/>
              </a:spcAft>
              <a:buClr>
                <a:schemeClr val="dk1"/>
              </a:buClr>
              <a:buSzPct val="100000"/>
            </a:pPr>
            <a:r>
              <a:rPr lang="en-US" altLang="en-US" sz="2000" dirty="0">
                <a:latin typeface="Cambria" panose="02040503050406030204" pitchFamily="18" charset="0"/>
                <a:ea typeface="Cambria" panose="02040503050406030204" pitchFamily="18" charset="0"/>
              </a:rPr>
              <a:t>Hence, there is a strong need for a cost-effective automated attendance system that addresses these challenges and improves the overall efficiency of attendance management in rural schools.</a:t>
            </a:r>
            <a:endParaRPr lang="en-US" altLang="en-US" sz="20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smtClean="0">
                <a:latin typeface="Cambria" panose="02040503050406030204" pitchFamily="18" charset="0"/>
                <a:ea typeface="Cambria" panose="02040503050406030204" pitchFamily="18" charset="0"/>
              </a:rPr>
              <a:t>Github Link</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r>
              <a:rPr lang="en-US" dirty="0" smtClean="0">
                <a:latin typeface="Cambria" panose="02040503050406030204" pitchFamily="18" charset="0"/>
                <a:ea typeface="Cambria" panose="02040503050406030204" pitchFamily="18" charset="0"/>
              </a:rPr>
              <a:t>The Github link provided should have public access permission.</a:t>
            </a: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b="1" dirty="0" smtClean="0">
                <a:solidFill>
                  <a:schemeClr val="accent2">
                    <a:lumMod val="75000"/>
                  </a:schemeClr>
                </a:solidFill>
                <a:latin typeface="Cambria" panose="02040503050406030204" pitchFamily="18" charset="0"/>
                <a:ea typeface="Cambria" panose="02040503050406030204" pitchFamily="18" charset="0"/>
              </a:rPr>
              <a:t>Github Link</a:t>
            </a:r>
            <a:endParaRPr lang="en-US" b="1" dirty="0" smtClean="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smtClean="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smtClean="0">
                <a:latin typeface="Cambria" panose="02040503050406030204" pitchFamily="18" charset="0"/>
                <a:ea typeface="Cambria" panose="02040503050406030204" pitchFamily="18" charset="0"/>
                <a:sym typeface="+mn-ea"/>
              </a:rPr>
              <a:t>Innovation </a:t>
            </a:r>
            <a:r>
              <a:rPr lang="en-US" dirty="0">
                <a:latin typeface="Cambria" panose="02040503050406030204" pitchFamily="18" charset="0"/>
                <a:ea typeface="Cambria" panose="02040503050406030204" pitchFamily="18" charset="0"/>
                <a:sym typeface="+mn-ea"/>
              </a:rPr>
              <a:t>or Novel Contributions</a:t>
            </a:r>
            <a:endParaRPr lang="en-GB" altLang="en-US"/>
          </a:p>
        </p:txBody>
      </p:sp>
      <p:sp>
        <p:nvSpPr>
          <p:cNvPr id="3" name="Text Placeholder 2"/>
          <p:cNvSpPr>
            <a:spLocks noGrp="1"/>
          </p:cNvSpPr>
          <p:nvPr>
            <p:ph type="body" idx="1"/>
          </p:nvPr>
        </p:nvSpPr>
        <p:spPr/>
        <p:txBody>
          <a:bodyPr>
            <a:normAutofit/>
          </a:bodyPr>
          <a:p>
            <a:pPr>
              <a:lnSpc>
                <a:spcPct val="90000"/>
              </a:lnSpc>
            </a:pPr>
            <a:r>
              <a:rPr lang="en-US" altLang="en-US" sz="2000">
                <a:latin typeface="Cambria" panose="02040503050406030204" pitchFamily="18" charset="0"/>
                <a:cs typeface="Cambria" panose="02040503050406030204" pitchFamily="18" charset="0"/>
              </a:rPr>
              <a:t>Designed specifically for rural school environments</a:t>
            </a:r>
            <a:endParaRPr lang="en-US" altLang="en-US" sz="2000">
              <a:latin typeface="Cambria" panose="02040503050406030204" pitchFamily="18" charset="0"/>
              <a:cs typeface="Cambria" panose="02040503050406030204" pitchFamily="18" charset="0"/>
            </a:endParaRPr>
          </a:p>
          <a:p>
            <a:pPr>
              <a:lnSpc>
                <a:spcPct val="90000"/>
              </a:lnSpc>
            </a:pPr>
            <a:endParaRPr lang="en-US" altLang="en-US" sz="2000">
              <a:latin typeface="Cambria" panose="02040503050406030204" pitchFamily="18" charset="0"/>
              <a:cs typeface="Cambria" panose="02040503050406030204" pitchFamily="18" charset="0"/>
            </a:endParaRPr>
          </a:p>
          <a:p>
            <a:pPr>
              <a:lnSpc>
                <a:spcPct val="90000"/>
              </a:lnSpc>
            </a:pPr>
            <a:r>
              <a:rPr lang="en-US" altLang="en-US" sz="2000">
                <a:latin typeface="Cambria" panose="02040503050406030204" pitchFamily="18" charset="0"/>
                <a:cs typeface="Cambria" panose="02040503050406030204" pitchFamily="18" charset="0"/>
              </a:rPr>
              <a:t>Low-cost implementation without expensive hardware</a:t>
            </a:r>
            <a:endParaRPr lang="en-US" altLang="en-US" sz="2000">
              <a:latin typeface="Cambria" panose="02040503050406030204" pitchFamily="18" charset="0"/>
              <a:cs typeface="Cambria" panose="02040503050406030204" pitchFamily="18" charset="0"/>
            </a:endParaRPr>
          </a:p>
          <a:p>
            <a:pPr>
              <a:lnSpc>
                <a:spcPct val="90000"/>
              </a:lnSpc>
            </a:pPr>
            <a:endParaRPr lang="en-US" altLang="en-US" sz="2000">
              <a:latin typeface="Cambria" panose="02040503050406030204" pitchFamily="18" charset="0"/>
              <a:cs typeface="Cambria" panose="02040503050406030204" pitchFamily="18" charset="0"/>
            </a:endParaRPr>
          </a:p>
          <a:p>
            <a:pPr>
              <a:lnSpc>
                <a:spcPct val="90000"/>
              </a:lnSpc>
            </a:pPr>
            <a:r>
              <a:rPr lang="en-US" altLang="en-US" sz="2000">
                <a:latin typeface="Cambria" panose="02040503050406030204" pitchFamily="18" charset="0"/>
                <a:cs typeface="Cambria" panose="02040503050406030204" pitchFamily="18" charset="0"/>
              </a:rPr>
              <a:t>Reduces teacher workload and saves classroom time</a:t>
            </a:r>
            <a:endParaRPr lang="en-US" altLang="en-US" sz="2000">
              <a:latin typeface="Cambria" panose="02040503050406030204" pitchFamily="18" charset="0"/>
              <a:cs typeface="Cambria" panose="02040503050406030204" pitchFamily="18" charset="0"/>
            </a:endParaRPr>
          </a:p>
          <a:p>
            <a:pPr>
              <a:lnSpc>
                <a:spcPct val="90000"/>
              </a:lnSpc>
            </a:pPr>
            <a:endParaRPr lang="en-US" altLang="en-US" sz="2000">
              <a:latin typeface="Cambria" panose="02040503050406030204" pitchFamily="18" charset="0"/>
              <a:cs typeface="Cambria" panose="02040503050406030204" pitchFamily="18" charset="0"/>
            </a:endParaRPr>
          </a:p>
          <a:p>
            <a:pPr>
              <a:lnSpc>
                <a:spcPct val="90000"/>
              </a:lnSpc>
            </a:pPr>
            <a:r>
              <a:rPr lang="en-US" altLang="en-US" sz="2000">
                <a:latin typeface="Cambria" panose="02040503050406030204" pitchFamily="18" charset="0"/>
                <a:cs typeface="Cambria" panose="02040503050406030204" pitchFamily="18" charset="0"/>
              </a:rPr>
              <a:t>Improves attendance accuracy and transparency</a:t>
            </a:r>
            <a:endParaRPr lang="en-US" altLang="en-US" sz="2000">
              <a:latin typeface="Cambria" panose="02040503050406030204" pitchFamily="18" charset="0"/>
              <a:cs typeface="Cambria" panose="02040503050406030204" pitchFamily="18" charset="0"/>
            </a:endParaRPr>
          </a:p>
          <a:p>
            <a:pPr>
              <a:lnSpc>
                <a:spcPct val="90000"/>
              </a:lnSpc>
            </a:pPr>
            <a:endParaRPr lang="en-US" altLang="en-US" sz="2000">
              <a:latin typeface="Cambria" panose="02040503050406030204" pitchFamily="18" charset="0"/>
              <a:cs typeface="Cambria" panose="02040503050406030204" pitchFamily="18" charset="0"/>
            </a:endParaRPr>
          </a:p>
          <a:p>
            <a:pPr>
              <a:lnSpc>
                <a:spcPct val="90000"/>
              </a:lnSpc>
            </a:pPr>
            <a:r>
              <a:rPr lang="en-US" altLang="en-US" sz="2000">
                <a:latin typeface="Cambria" panose="02040503050406030204" pitchFamily="18" charset="0"/>
                <a:cs typeface="Cambria" panose="02040503050406030204" pitchFamily="18" charset="0"/>
              </a:rPr>
              <a:t>Prevents proxy attendance</a:t>
            </a:r>
            <a:endParaRPr lang="en-US" altLang="en-US" sz="2000">
              <a:latin typeface="Cambria" panose="02040503050406030204" pitchFamily="18" charset="0"/>
              <a:cs typeface="Cambria" panose="02040503050406030204" pitchFamily="18" charset="0"/>
            </a:endParaRPr>
          </a:p>
          <a:p>
            <a:pPr>
              <a:lnSpc>
                <a:spcPct val="90000"/>
              </a:lnSpc>
            </a:pPr>
            <a:endParaRPr lang="en-US" altLang="en-US" sz="2000">
              <a:latin typeface="Cambria" panose="02040503050406030204" pitchFamily="18" charset="0"/>
              <a:cs typeface="Cambria" panose="02040503050406030204" pitchFamily="18" charset="0"/>
            </a:endParaRPr>
          </a:p>
          <a:p>
            <a:pPr>
              <a:lnSpc>
                <a:spcPct val="90000"/>
              </a:lnSpc>
            </a:pPr>
            <a:r>
              <a:rPr lang="en-US" altLang="en-US" sz="2000">
                <a:latin typeface="Cambria" panose="02040503050406030204" pitchFamily="18" charset="0"/>
                <a:cs typeface="Cambria" panose="02040503050406030204" pitchFamily="18" charset="0"/>
              </a:rPr>
              <a:t>Enables easy report generation and digital record storage</a:t>
            </a:r>
            <a:endParaRPr lang="en-US" altLang="en-US" sz="2000">
              <a:latin typeface="Cambria" panose="02040503050406030204" pitchFamily="18" charset="0"/>
              <a:cs typeface="Cambria" panose="02040503050406030204" pitchFamily="18" charset="0"/>
            </a:endParaRPr>
          </a:p>
          <a:p>
            <a:pPr>
              <a:lnSpc>
                <a:spcPct val="90000"/>
              </a:lnSpc>
            </a:pPr>
            <a:endParaRPr lang="en-US" altLang="en-US" sz="2000">
              <a:latin typeface="Cambria" panose="02040503050406030204" pitchFamily="18" charset="0"/>
              <a:cs typeface="Cambria" panose="02040503050406030204" pitchFamily="18" charset="0"/>
            </a:endParaRPr>
          </a:p>
          <a:p>
            <a:pPr>
              <a:lnSpc>
                <a:spcPct val="90000"/>
              </a:lnSpc>
            </a:pPr>
            <a:r>
              <a:rPr lang="en-US" altLang="en-US" sz="2000">
                <a:latin typeface="Cambria" panose="02040503050406030204" pitchFamily="18" charset="0"/>
                <a:cs typeface="Cambria" panose="02040503050406030204" pitchFamily="18" charset="0"/>
              </a:rPr>
              <a:t>Scalable and adaptable for different rural school sizes</a:t>
            </a:r>
            <a:endParaRPr lang="en-US" altLang="en-US" sz="2000">
              <a:latin typeface="Cambria" panose="02040503050406030204" pitchFamily="18" charset="0"/>
              <a:cs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smtClean="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2" name="Picture 1" descr="Gantt_Chart_Phase_Wise_Jan_May_2026"/>
          <p:cNvPicPr>
            <a:picLocks noChangeAspect="1"/>
          </p:cNvPicPr>
          <p:nvPr/>
        </p:nvPicPr>
        <p:blipFill>
          <a:blip r:embed="rId1"/>
          <a:stretch>
            <a:fillRect/>
          </a:stretch>
        </p:blipFill>
        <p:spPr>
          <a:xfrm>
            <a:off x="609600" y="1143000"/>
            <a:ext cx="10972800" cy="4572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a:t>
            </a:r>
            <a:r>
              <a:rPr lang="en-GB" dirty="0" smtClean="0">
                <a:latin typeface="Cambria" panose="02040503050406030204" pitchFamily="18" charset="0"/>
                <a:ea typeface="Cambria" panose="02040503050406030204" pitchFamily="18" charset="0"/>
              </a:rPr>
              <a:t>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60000"/>
          </a:bodyPr>
          <a:lstStyle/>
          <a:p>
            <a:pPr marL="152400" indent="0">
              <a:spcBef>
                <a:spcPts val="0"/>
              </a:spcBef>
              <a:buNone/>
            </a:pPr>
            <a:r>
              <a:rPr lang="en-US" altLang="en-US" sz="3500" dirty="0" smtClean="0">
                <a:latin typeface="Cambria" panose="02040503050406030204" pitchFamily="18" charset="0"/>
                <a:ea typeface="Cambria" panose="02040503050406030204" pitchFamily="18" charset="0"/>
              </a:rPr>
              <a:t>[1] S. Patil and R. Shinde, “Automatic attendance management system using mobile devices,” International Journal of Computer Applications, vol. 119, no. 6, pp. 45–50, 2015.</a:t>
            </a: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r>
              <a:rPr lang="en-US" altLang="en-US" sz="3500" dirty="0" smtClean="0">
                <a:latin typeface="Cambria" panose="02040503050406030204" pitchFamily="18" charset="0"/>
                <a:ea typeface="Cambria" panose="02040503050406030204" pitchFamily="18" charset="0"/>
              </a:rPr>
              <a:t>[2] A. Kumar and K. Bhatia, “Smart attendance system using digital technologies,” in Proc. IEEE Int. Conf. on Smart Systems, 2018.</a:t>
            </a: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r>
              <a:rPr lang="en-US" altLang="en-US" sz="3500" dirty="0" smtClean="0">
                <a:latin typeface="Cambria" panose="02040503050406030204" pitchFamily="18" charset="0"/>
                <a:ea typeface="Cambria" panose="02040503050406030204" pitchFamily="18" charset="0"/>
              </a:rPr>
              <a:t>[3] M. Singh, R. Verma, and P. Gupta, “Design and implementation of automated attendance system,” International Journal of Engineering Research, vol. 7, no. 4, pp. 112–117, 2019.</a:t>
            </a: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r>
              <a:rPr lang="en-US" altLang="en-US" sz="3500" dirty="0" smtClean="0">
                <a:latin typeface="Cambria" panose="02040503050406030204" pitchFamily="18" charset="0"/>
                <a:ea typeface="Cambria" panose="02040503050406030204" pitchFamily="18" charset="0"/>
              </a:rPr>
              <a:t>[4] R. Kumar and S. Kumar, “Biometric based attendance monitoring system,” International Journal of Scientific &amp; Engineering Research, vol. 6, no. 5, pp. 1258–1262, 2015.</a:t>
            </a: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a:t>
            </a:r>
            <a:r>
              <a:rPr lang="en-GB" dirty="0" smtClean="0">
                <a:latin typeface="Cambria" panose="02040503050406030204" pitchFamily="18" charset="0"/>
                <a:ea typeface="Cambria" panose="02040503050406030204" pitchFamily="18" charset="0"/>
              </a:rPr>
              <a:t>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60000"/>
          </a:bodyPr>
          <a:lstStyle/>
          <a:p>
            <a:pPr marL="152400" indent="0">
              <a:spcBef>
                <a:spcPts val="0"/>
              </a:spcBef>
              <a:buNone/>
            </a:pPr>
            <a:r>
              <a:rPr lang="en-US" altLang="en-US" sz="3500" dirty="0" smtClean="0">
                <a:latin typeface="Cambria" panose="02040503050406030204" pitchFamily="18" charset="0"/>
                <a:ea typeface="Cambria" panose="02040503050406030204" pitchFamily="18" charset="0"/>
              </a:rPr>
              <a:t>[5] P. Sharma and T. Mishra, “RFID based student attendance system,” International Journal of Advanced Research in Computer Science, vol. 8, no. 3, pp. 421–425, 2017.</a:t>
            </a: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r>
              <a:rPr lang="en-US" altLang="en-US" sz="3500" dirty="0" smtClean="0">
                <a:latin typeface="Cambria" panose="02040503050406030204" pitchFamily="18" charset="0"/>
                <a:ea typeface="Cambria" panose="02040503050406030204" pitchFamily="18" charset="0"/>
              </a:rPr>
              <a:t>[6] A. J. Singh and M. Kaur, “Face recognition based attendance system,” International Journal of Computer Science and Information Technologies, vol. 6, no. 4, pp. 3034–3038, 2015.</a:t>
            </a: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r>
              <a:rPr lang="en-US" altLang="en-US" sz="3500" dirty="0" smtClean="0">
                <a:latin typeface="Cambria" panose="02040503050406030204" pitchFamily="18" charset="0"/>
                <a:ea typeface="Cambria" panose="02040503050406030204" pitchFamily="18" charset="0"/>
              </a:rPr>
              <a:t>[7] N. A. Shinde and S. R. Patil, “Automated attendance system using IoT,” in Proc. Int. Conf. on Internet of Things and Applications, 2018, pp. 90–94.</a:t>
            </a: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r>
              <a:rPr lang="en-US" altLang="en-US" sz="3500" dirty="0" smtClean="0">
                <a:latin typeface="Cambria" panose="02040503050406030204" pitchFamily="18" charset="0"/>
                <a:ea typeface="Cambria" panose="02040503050406030204" pitchFamily="18" charset="0"/>
              </a:rPr>
              <a:t>[8] S. D. Chavan and P. R. Patil, “Smart classroom attendance management system,” International Journal of Emerging Technologies in Engineering Research, vol. 6, no. 2, pp. 15–19, 2018.</a:t>
            </a:r>
            <a:endParaRPr lang="en-US" altLang="en-US" sz="3500" dirty="0" smtClean="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5817</Words>
  <Application>WPS Presentation</Application>
  <PresentationFormat>Widescreen</PresentationFormat>
  <Paragraphs>164</Paragraphs>
  <Slides>12</Slides>
  <Notes>11</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12</vt:i4>
      </vt:variant>
    </vt:vector>
  </HeadingPairs>
  <TitlesOfParts>
    <vt:vector size="37" baseType="lpstr">
      <vt:lpstr>Arial</vt:lpstr>
      <vt:lpstr>SimSun</vt:lpstr>
      <vt:lpstr>Wingdings</vt:lpstr>
      <vt:lpstr>Arial</vt:lpstr>
      <vt:lpstr>Verdana</vt:lpstr>
      <vt:lpstr>Bookman Old Style</vt:lpstr>
      <vt:lpstr>Cambria</vt:lpstr>
      <vt:lpstr>Cambria</vt:lpstr>
      <vt:lpstr>Times New Roman</vt:lpstr>
      <vt:lpstr>Microsoft YaHei</vt:lpstr>
      <vt:lpstr>Arial Unicode MS</vt:lpstr>
      <vt:lpstr>Aptos</vt:lpstr>
      <vt:lpstr>Segoe UI</vt:lpstr>
      <vt:lpstr>Bookman Old Style</vt:lpstr>
      <vt:lpstr>Calibri Light</vt:lpstr>
      <vt:lpstr>Perpetua</vt:lpstr>
      <vt:lpstr>Perpetua Titling MT</vt:lpstr>
      <vt:lpstr>PMingLiU-ExtB</vt:lpstr>
      <vt:lpstr>Poor Richard</vt:lpstr>
      <vt:lpstr>Pristina</vt:lpstr>
      <vt:lpstr>Ravie</vt:lpstr>
      <vt:lpstr>Sans Serif Collection</vt:lpstr>
      <vt:lpstr>Rockwell Condensed</vt:lpstr>
      <vt:lpstr>Sitka Subheading</vt:lpstr>
      <vt:lpstr>Bioinformatics</vt:lpstr>
      <vt:lpstr>Use of measurements from the mobile phones (low cost preferred) to provide a safe autonomous navigation on the roads</vt:lpstr>
      <vt:lpstr>Problem Statement Number:25177 </vt:lpstr>
      <vt:lpstr>Content</vt:lpstr>
      <vt:lpstr>Objectives</vt:lpstr>
      <vt:lpstr>Background and Related work for title Selection</vt:lpstr>
      <vt:lpstr>Analysis of Problem Statement</vt:lpstr>
      <vt:lpstr>Github Link</vt:lpstr>
      <vt:lpstr>Innovation or Novel Contributions</vt:lpstr>
      <vt:lpstr>Timeline of the Project (Gantt Chart)</vt:lpstr>
      <vt:lpstr>References (IEEE Paper format)</vt:lpstr>
      <vt:lpstr>References (IEEE Paper format)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Ramya Venkat</cp:lastModifiedBy>
  <cp:revision>43</cp:revision>
  <dcterms:created xsi:type="dcterms:W3CDTF">2026-01-04T03:01:00Z</dcterms:created>
  <dcterms:modified xsi:type="dcterms:W3CDTF">2026-01-11T16:39:59Z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8F755B6B22204B46A2C6E1CA53802CBE_13</vt:lpwstr>
  </property>
  <property fmtid="{D5CDD505-2E9C-101B-9397-08002B2CF9AE}" pid="3" name="KSOProductBuildVer">
    <vt:lpwstr>1033-12.2.0.23196</vt:lpwstr>
  </property>
</Properties>
</file>